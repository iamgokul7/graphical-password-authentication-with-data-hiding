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6" r:id="rId3"/>
    <p:sldId id="282" r:id="rId4"/>
    <p:sldId id="303" r:id="rId5"/>
    <p:sldId id="304" r:id="rId6"/>
    <p:sldId id="305" r:id="rId7"/>
    <p:sldId id="306" r:id="rId8"/>
    <p:sldId id="307" r:id="rId9"/>
    <p:sldId id="291" r:id="rId10"/>
    <p:sldId id="294" r:id="rId11"/>
    <p:sldId id="295" r:id="rId12"/>
    <p:sldId id="296" r:id="rId13"/>
    <p:sldId id="297" r:id="rId14"/>
    <p:sldId id="313" r:id="rId15"/>
    <p:sldId id="308" r:id="rId16"/>
    <p:sldId id="309" r:id="rId17"/>
    <p:sldId id="310" r:id="rId18"/>
    <p:sldId id="311" r:id="rId19"/>
    <p:sldId id="312" r:id="rId20"/>
    <p:sldId id="302" r:id="rId2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C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C68947-A7D5-CE40-C12F-5067131F6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E0348-5A5D-EDB8-306F-25865C38F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EF384-107E-400C-9EB1-4828722D7DF8}" type="datetimeFigureOut">
              <a:rPr lang="en-IN" smtClean="0"/>
              <a:t>15-05-2025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E7B03-8C54-C2B4-2B33-543D7CFBC5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CS3811 PROJECT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FE7C5-92AA-3872-D320-4B4D39E836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FAB38-0086-44B4-9EDB-0EFD0A50A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61604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89632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71721-532C-613A-2BA8-91F85EDE8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A3E13-CCE2-85D9-ED72-072427586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8DF12-C2EB-607F-FCB2-DEA1AA4C8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65FE4-406A-8BC0-D7AD-69438C49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D885-E742-890D-A8EC-1135D10A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666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5483-9C04-8C72-0739-9F2427C3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A6BFC-FEDB-C1B3-C3E0-95914E55E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BEA02-C580-D43C-C6A0-CBDC00CC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A5A44-3D1C-B0AB-1F51-71AFCCC5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5B79-84BE-344D-2711-54C91017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6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DC9C1-27B5-952A-A278-EEA28950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31C47-A5F8-07FF-EF3F-B6FDCBCD4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61254-8011-8913-D6F7-98BBC67C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38088-5302-3D5D-5B2B-DE845538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B3981-8326-2489-020D-90EDD6203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8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AFA24-BCD1-F421-EE60-62570E64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3B89-2D24-C62E-80AE-6981006EB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D03D1-CEEE-008D-4E5E-022738949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9269B-BB84-73E6-7D66-5624C11F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927458-5690-4ECE-3F18-DEAD9399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C1CDF-B8C2-CA30-2A27-D2FF6EA7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70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84F2D-E1B0-4AC1-9FB3-7F80136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35209-2E2A-7C11-C905-62F0D4A4D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FCA24-A5B1-3E83-269D-F6198B654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74031-F760-764B-3C27-36389651D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90852-FDD0-3CD8-4239-A2EC5783F9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2AA556-50E5-66FD-126F-F54FD8EB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44D70-98D3-1C23-378A-B07F24EA6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55DF6-9EEF-4132-A947-A7E1AC3B8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39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0AD14-23C3-7084-52F5-14E601BA1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749C4-7DBE-0848-FEE1-B0B72121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F2FBF-0127-8803-E9FF-4C0DA008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0494C-CA76-6A06-6E38-09E09E0B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62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55A09-7C35-CC4D-653A-E279210E8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DC87A-9509-B7F9-0D28-708FEB28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F36BF-545B-41E3-53F3-60601BF90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19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803F-9011-3120-2519-8BD1FCD5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9C3E2-07E0-AC64-8AB0-AF71AB8C3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D6332-F3A8-ABE6-76EB-9AD48445C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3316F-CA70-0373-2FE8-056929366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5B392-7559-B1B4-1CFF-ADF7E503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158A5-4154-D2DD-E7A2-E15097D0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94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ED21-271C-BB7B-0631-73BE1A41B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479DF-3043-09C7-500E-FA3E4FB05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9C5A7-DD57-2357-675C-68013F943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33EF9-BB19-52BC-58A5-E6E03AF9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2FA42-62F7-7C4D-57D7-DAB2F44B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BF878-7F42-75F8-28EA-35AE4876F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6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51565-12C5-5E83-BFD4-3C3BE42A2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4570D-94DB-05E1-B3EA-B3CEF8AD0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DC4B-43AC-10A3-E407-E642DE92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975DE-0BE7-F697-F666-EBA341CA1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03DB-C6C3-C64B-B1F4-C32E6583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14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5CD33-F9FA-CFC4-F328-85A9BC47C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41164-AF1E-94B2-0870-51C4B3839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C521D-DA31-AA65-79E6-5E8E48C08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2A1C8-CD6C-5245-7E44-08D264B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74F6D-E3B6-1F43-E3F5-B9319EAB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79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66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69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91FAC3-F559-B26A-FFBF-483C34A1C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CBB88-79E9-C757-83B4-23D56A7F6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BF2A9-F8DE-C052-6010-5DF2742A4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62527-727C-57C4-90EF-A72E95D3C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CS3811 PROJECT WORK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7D11C-B417-F14D-DAB6-96CA5FA63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126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64229" y="1682000"/>
            <a:ext cx="12301938" cy="1629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9060" indent="-99060" algn="ctr">
              <a:spcAft>
                <a:spcPts val="800"/>
              </a:spcAft>
              <a:buNone/>
            </a:pPr>
            <a:r>
              <a:rPr lang="en-IN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ENHANCED SECURITY FRAMEWORK:</a:t>
            </a:r>
            <a:endParaRPr lang="en-IN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9060" indent="-99060" algn="ctr">
              <a:spcAft>
                <a:spcPts val="800"/>
              </a:spcAft>
              <a:buNone/>
            </a:pPr>
            <a:r>
              <a:rPr lang="en-IN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GRAPHICAL PASSWORD AUTHENTICATION WITH</a:t>
            </a:r>
            <a:endParaRPr lang="en-IN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9060" indent="-99060" algn="ctr">
              <a:spcAft>
                <a:spcPts val="800"/>
              </a:spcAft>
            </a:pPr>
            <a:r>
              <a:rPr lang="en-IN" sz="3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HIDING ON CLOUD STORAGE</a:t>
            </a:r>
            <a:endParaRPr lang="en-IN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4055-7162-B87C-C358-66225857BEAE}"/>
              </a:ext>
            </a:extLst>
          </p:cNvPr>
          <p:cNvSpPr txBox="1"/>
          <p:nvPr/>
        </p:nvSpPr>
        <p:spPr>
          <a:xfrm>
            <a:off x="5706840" y="3635819"/>
            <a:ext cx="3216714" cy="705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00"/>
              </a:lnSpc>
              <a:buNone/>
            </a:pPr>
            <a:r>
              <a:rPr lang="en-US" sz="2800" b="1" dirty="0">
                <a:solidFill>
                  <a:srgbClr val="1F1E1E"/>
                </a:solidFill>
                <a:latin typeface="Times New Roman" panose="02020603050405020304" pitchFamily="18" charset="0"/>
                <a:ea typeface="Red Hat Text" pitchFamily="34" charset="-122"/>
                <a:cs typeface="Times New Roman" panose="02020603050405020304" pitchFamily="18" charset="0"/>
              </a:rPr>
              <a:t>TEAM MEMBERS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1B9A1BA-2ED7-C02A-4C09-8531BFAD7243}"/>
              </a:ext>
            </a:extLst>
          </p:cNvPr>
          <p:cNvSpPr/>
          <p:nvPr/>
        </p:nvSpPr>
        <p:spPr>
          <a:xfrm>
            <a:off x="5597804" y="4341269"/>
            <a:ext cx="3434790" cy="702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00"/>
              </a:lnSpc>
              <a:buSzPct val="100000"/>
            </a:pPr>
            <a:r>
              <a:rPr lang="en-US" sz="1850" b="1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GOKUL P (310121104035)</a:t>
            </a:r>
          </a:p>
          <a:p>
            <a:pPr algn="ctr">
              <a:lnSpc>
                <a:spcPts val="3000"/>
              </a:lnSpc>
              <a:buSzPct val="100000"/>
            </a:pPr>
            <a:r>
              <a:rPr lang="en-US" sz="1850" b="1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JELEN ALBERT J (310121104044)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7E2D5F38-50A2-7350-4B0D-1A5F7B867DED}"/>
              </a:ext>
            </a:extLst>
          </p:cNvPr>
          <p:cNvSpPr/>
          <p:nvPr/>
        </p:nvSpPr>
        <p:spPr>
          <a:xfrm>
            <a:off x="4507574" y="5916954"/>
            <a:ext cx="5615247" cy="86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b="1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GUIDE NAME :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Dinakar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  <a:r>
              <a:rPr lang="en-US" sz="1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– Computer Science and Engineering 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E41F2223-7389-CD37-D2EE-ACECD3F3E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910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C50E54-F11D-D421-3D31-8BD8533587DF}"/>
              </a:ext>
            </a:extLst>
          </p:cNvPr>
          <p:cNvSpPr txBox="1"/>
          <p:nvPr/>
        </p:nvSpPr>
        <p:spPr>
          <a:xfrm>
            <a:off x="2794910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679D3D5-5F86-A3E1-C543-C405100C7418}"/>
              </a:ext>
            </a:extLst>
          </p:cNvPr>
          <p:cNvSpPr txBox="1">
            <a:spLocks/>
          </p:cNvSpPr>
          <p:nvPr/>
        </p:nvSpPr>
        <p:spPr>
          <a:xfrm>
            <a:off x="72737" y="7751423"/>
            <a:ext cx="3034145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ADF8AF-325C-C2D5-7B3D-A2DD7991BC5D}"/>
              </a:ext>
            </a:extLst>
          </p:cNvPr>
          <p:cNvSpPr txBox="1"/>
          <p:nvPr/>
        </p:nvSpPr>
        <p:spPr>
          <a:xfrm>
            <a:off x="531770" y="7566757"/>
            <a:ext cx="338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9A6CF1-B696-0257-A8B3-A53C1CC53CAD}"/>
              </a:ext>
            </a:extLst>
          </p:cNvPr>
          <p:cNvSpPr txBox="1"/>
          <p:nvPr/>
        </p:nvSpPr>
        <p:spPr>
          <a:xfrm>
            <a:off x="5455710" y="2017411"/>
            <a:ext cx="498651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Domain introduction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system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Scope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Modules and description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 screen shots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enhancements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Publication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Patent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Internship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1576AF-10B8-526D-1905-76C9F0347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C6AEEE0-8D74-98C6-5168-A8B5DB88977D}"/>
              </a:ext>
            </a:extLst>
          </p:cNvPr>
          <p:cNvSpPr txBox="1"/>
          <p:nvPr/>
        </p:nvSpPr>
        <p:spPr>
          <a:xfrm>
            <a:off x="6340407" y="1422997"/>
            <a:ext cx="1949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1D33635B-4C20-DBDD-F027-EA75F3614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910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704561-00B4-19F8-F3D0-3998AF5FA77F}"/>
              </a:ext>
            </a:extLst>
          </p:cNvPr>
          <p:cNvSpPr txBox="1"/>
          <p:nvPr/>
        </p:nvSpPr>
        <p:spPr>
          <a:xfrm>
            <a:off x="2794910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09BD7-E874-3E3C-CCDC-40FC3F5BA088}"/>
              </a:ext>
            </a:extLst>
          </p:cNvPr>
          <p:cNvSpPr txBox="1"/>
          <p:nvPr/>
        </p:nvSpPr>
        <p:spPr>
          <a:xfrm>
            <a:off x="584905" y="7564289"/>
            <a:ext cx="4139495" cy="374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3478612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2470-DA17-F6E1-DE0E-CA7CF636C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57A2174-B516-7904-E4B6-1B39F9B6C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E07B9B-246F-B947-FB31-B7255A452CD8}"/>
              </a:ext>
            </a:extLst>
          </p:cNvPr>
          <p:cNvSpPr txBox="1"/>
          <p:nvPr/>
        </p:nvSpPr>
        <p:spPr>
          <a:xfrm>
            <a:off x="603771" y="1518491"/>
            <a:ext cx="4690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INTRODUCTION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2ED10A92-8D2E-DEB4-882F-BC2327388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46E8EF-7EB1-979D-CB59-C7DE523D8CEE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DCE3A-A417-AD3D-7CFD-C4A8FB9E3B1C}"/>
              </a:ext>
            </a:extLst>
          </p:cNvPr>
          <p:cNvSpPr txBox="1"/>
          <p:nvPr/>
        </p:nvSpPr>
        <p:spPr>
          <a:xfrm>
            <a:off x="677117" y="2079317"/>
            <a:ext cx="12705396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reliance on cloud storage for data management and accessibility.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concerns about data security and user authentication in cloud environments.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robust authentication mechanisms to prevent unauthorized access.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graphical password authentication as an alternative to traditional text-based passwords.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 of data hiding techniques for enhanced security in the cloud.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FFBAE-09A5-E927-770E-30FC0D2C8BE7}"/>
              </a:ext>
            </a:extLst>
          </p:cNvPr>
          <p:cNvSpPr txBox="1"/>
          <p:nvPr/>
        </p:nvSpPr>
        <p:spPr>
          <a:xfrm>
            <a:off x="603771" y="755237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3615870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32298-7C6F-E7B3-D0C4-2283FF929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A4B101D-B761-333F-4E9B-EF5AB37A9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AFE01A-5233-3A54-A953-39EF64B3CEC9}"/>
              </a:ext>
            </a:extLst>
          </p:cNvPr>
          <p:cNvSpPr txBox="1"/>
          <p:nvPr/>
        </p:nvSpPr>
        <p:spPr>
          <a:xfrm>
            <a:off x="603771" y="1518491"/>
            <a:ext cx="34828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650552E4-4245-E62F-A8B8-2C0600818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D5D74E-DE6D-D657-F798-4EE46AC0D94F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E4039-3FA4-411A-116D-D978137C0F73}"/>
              </a:ext>
            </a:extLst>
          </p:cNvPr>
          <p:cNvSpPr txBox="1"/>
          <p:nvPr/>
        </p:nvSpPr>
        <p:spPr>
          <a:xfrm>
            <a:off x="665828" y="2316469"/>
            <a:ext cx="127053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authentication relies heavily on text-based passwords and basic encryption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username/password)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are vulnerable to attacks like brute-force, phishing, and keylogging(e.g., susceptibility to phishing, brute-force attacks, memorability issues).   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offer limited protection and poor memorability, causing users to reuse or reset passwords.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sharing lacks robust encryption and access control. 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security vulnerabilities and inefficient data protection.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9293E-EDC1-EB28-9F14-F4D420853D45}"/>
              </a:ext>
            </a:extLst>
          </p:cNvPr>
          <p:cNvSpPr txBox="1"/>
          <p:nvPr/>
        </p:nvSpPr>
        <p:spPr>
          <a:xfrm>
            <a:off x="603771" y="756922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1214723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56BA-86AA-C07E-5286-C3F734F8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376B52-3BFC-0C0C-A3CC-E54A6878C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A38A5C-B07C-E132-DB71-3584653359CE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3A95CB86-6295-7964-3C47-EBDE761AB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03CC00-58B6-B831-97B4-04E892829371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6A9EA-9F81-4053-A47B-E0F2AFEDF199}"/>
              </a:ext>
            </a:extLst>
          </p:cNvPr>
          <p:cNvSpPr txBox="1"/>
          <p:nvPr/>
        </p:nvSpPr>
        <p:spPr>
          <a:xfrm>
            <a:off x="665828" y="2316469"/>
            <a:ext cx="127053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passwords are vulnerable to various attacks.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struggle with password complexity and reuse them, increasing risks.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faces single-point failures, risking data breaches.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lack a fully integrated security framework.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There's a need for a user-friendly, multi-layered system with strong authentication and data protection.   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D10B5-6921-5240-D415-6CD7B3BAA6AE}"/>
              </a:ext>
            </a:extLst>
          </p:cNvPr>
          <p:cNvSpPr txBox="1"/>
          <p:nvPr/>
        </p:nvSpPr>
        <p:spPr>
          <a:xfrm>
            <a:off x="603771" y="7588789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785674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2661-1230-412B-028A-1CC6C871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8947A0D-FB6A-2B83-EBD1-36CA89819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76DA69-FA37-94A1-3A47-41D371B232F9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5ED31CAC-A07B-C18D-DCEF-90B3DA9BD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CFBFE1-92E8-7DDF-AB01-308AF6859A8A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8A4DB-8502-AA09-AA59-F2D15D939FEA}"/>
              </a:ext>
            </a:extLst>
          </p:cNvPr>
          <p:cNvSpPr txBox="1"/>
          <p:nvPr/>
        </p:nvSpPr>
        <p:spPr>
          <a:xfrm>
            <a:off x="665828" y="2316469"/>
            <a:ext cx="127053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security with multi-layered image-based authentication and AES encryption.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provide secure, user-friendly, and tamper-resistant authentication and data sharing.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authentication process involves three stages.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STAGE 1 : USERNAME &amp; PASSWORD  </a:t>
            </a:r>
          </a:p>
          <a:p>
            <a:pPr algn="just"/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STAGE 2 : GRAPHICAL IMAGE VERIFICATION USING DWT</a:t>
            </a:r>
          </a:p>
          <a:p>
            <a:pPr algn="just"/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STAGE 3 : IMAGE SELECTION USING PIN NUMBER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upload files that are encrypted using AES.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file-sharing module allows secure file exchange with automatic decryption upon approval.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7FEDE-6FE6-6AC0-F349-B34D1A02EF64}"/>
              </a:ext>
            </a:extLst>
          </p:cNvPr>
          <p:cNvSpPr txBox="1"/>
          <p:nvPr/>
        </p:nvSpPr>
        <p:spPr>
          <a:xfrm>
            <a:off x="603771" y="756675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172366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3D69-172A-1DFB-56BE-E98C22F4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53F0-55B9-D8AB-B5C1-BEFDE8ED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68AAC9-7ACD-953A-94AA-D122567713CA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80175F34-DA82-A870-2B11-C832DF1AA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178700-9F56-5D0F-4BCD-0864C6CAC333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42FB8E-C0AB-3FEB-FEEE-5D83EBF8394C}"/>
              </a:ext>
            </a:extLst>
          </p:cNvPr>
          <p:cNvSpPr txBox="1"/>
          <p:nvPr/>
        </p:nvSpPr>
        <p:spPr>
          <a:xfrm>
            <a:off x="665828" y="2316469"/>
            <a:ext cx="12705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multi-stage graphical password authentication system.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data-hiding using the DWT algorithm.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AES for secure data encryption and decryption.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file splitting and merging mechanism for distributed cloud storage.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system for secure data management.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BDA29-1F67-5FA3-9A91-57CC02FDCF88}"/>
              </a:ext>
            </a:extLst>
          </p:cNvPr>
          <p:cNvSpPr txBox="1"/>
          <p:nvPr/>
        </p:nvSpPr>
        <p:spPr>
          <a:xfrm>
            <a:off x="603771" y="756922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2445024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EFC5-62F4-F467-1E52-F16A0D9D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34BFF4-F353-D3DA-8743-6EE14BED2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39260C-B95B-8A71-EBE2-18C3A6819EDA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CDCA88C9-660C-D57B-EC73-C9D0B41EC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B07C35-29E2-8920-8B66-99F9EB7EF8C8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E3669-1A05-FE1C-3B95-DED2D4B4EF75}"/>
              </a:ext>
            </a:extLst>
          </p:cNvPr>
          <p:cNvSpPr txBox="1"/>
          <p:nvPr/>
        </p:nvSpPr>
        <p:spPr>
          <a:xfrm>
            <a:off x="665828" y="2316469"/>
            <a:ext cx="12705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multi-stage graphical password authentication.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data encryption using the AES algorithm.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hiding is implemented with the DWT algorithm.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employs distributed cloud storage.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scope focuses on enhancing security and data protection in cloud environments.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7BBCF-B50A-88FF-F1C0-46D3691C07F7}"/>
              </a:ext>
            </a:extLst>
          </p:cNvPr>
          <p:cNvSpPr txBox="1"/>
          <p:nvPr/>
        </p:nvSpPr>
        <p:spPr>
          <a:xfrm>
            <a:off x="665828" y="759143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2245032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E269-86E3-2C13-02BE-C60C3E4B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43C1A0-AFB9-09D5-DBC0-BBC9324FA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110958-5021-A571-4A18-EAB0F4248A52}"/>
              </a:ext>
            </a:extLst>
          </p:cNvPr>
          <p:cNvSpPr txBox="1"/>
          <p:nvPr/>
        </p:nvSpPr>
        <p:spPr>
          <a:xfrm>
            <a:off x="603771" y="1346115"/>
            <a:ext cx="9379325" cy="62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2600" b="1" dirty="0">
              <a:solidFill>
                <a:srgbClr val="1F1E1E"/>
              </a:solidFill>
              <a:latin typeface="Times New Roman" panose="02020603050405020304" pitchFamily="18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0FD817B4-C187-4A32-84A1-81ED7067D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620787-EA65-90E2-9814-86417507BDB7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8A1FD-5297-BAB2-2E86-E80FE8A2594D}"/>
              </a:ext>
            </a:extLst>
          </p:cNvPr>
          <p:cNvSpPr txBox="1"/>
          <p:nvPr/>
        </p:nvSpPr>
        <p:spPr>
          <a:xfrm>
            <a:off x="603771" y="756922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60231-C36E-EDEC-25A8-404711A7EC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07" t="7179" r="23095" b="1929"/>
          <a:stretch/>
        </p:blipFill>
        <p:spPr>
          <a:xfrm>
            <a:off x="4701294" y="1233949"/>
            <a:ext cx="5227811" cy="689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11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A7190-8826-D246-6670-1A7B30D4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5B8832-6266-E3A5-5106-EE3CDC6EE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9457426-0BEC-6762-BA0E-1E77C89C328B}"/>
              </a:ext>
            </a:extLst>
          </p:cNvPr>
          <p:cNvSpPr txBox="1"/>
          <p:nvPr/>
        </p:nvSpPr>
        <p:spPr>
          <a:xfrm>
            <a:off x="603771" y="1346115"/>
            <a:ext cx="9379325" cy="62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US" sz="2600" b="1" dirty="0">
              <a:solidFill>
                <a:srgbClr val="1F1E1E"/>
              </a:solidFill>
              <a:latin typeface="Times New Roman" panose="02020603050405020304" pitchFamily="18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36105DDD-0E4C-C336-FF56-ACCB4C185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E6F955-9F8C-C94A-E82D-BCD430C0C8E9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82178-E95E-6050-9AF6-0AAF3C8D2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595" y="1116211"/>
            <a:ext cx="5613479" cy="615327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58BD31-2E30-E66A-31EF-1CCA5131796B}"/>
              </a:ext>
            </a:extLst>
          </p:cNvPr>
          <p:cNvSpPr txBox="1"/>
          <p:nvPr/>
        </p:nvSpPr>
        <p:spPr>
          <a:xfrm>
            <a:off x="700590" y="1974429"/>
            <a:ext cx="389292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Provides a graphical representation of how data flows through the system, including processes for data input, storage, retrieval, and output, and the flow of data between modules.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5F6212-4FE0-9A60-D595-F155AFE02548}"/>
              </a:ext>
            </a:extLst>
          </p:cNvPr>
          <p:cNvSpPr txBox="1"/>
          <p:nvPr/>
        </p:nvSpPr>
        <p:spPr>
          <a:xfrm>
            <a:off x="603771" y="756675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1358866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6B00-C34C-9488-5E75-605DC283E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FE8F0C-C94F-691D-FE46-D7C202DF4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BAA2E9-4460-EB93-7A2E-79A1691D1C36}"/>
              </a:ext>
            </a:extLst>
          </p:cNvPr>
          <p:cNvSpPr txBox="1"/>
          <p:nvPr/>
        </p:nvSpPr>
        <p:spPr>
          <a:xfrm>
            <a:off x="603771" y="1346115"/>
            <a:ext cx="9379325" cy="62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sz="2600" b="1" dirty="0">
              <a:solidFill>
                <a:srgbClr val="1F1E1E"/>
              </a:solidFill>
              <a:latin typeface="Times New Roman" panose="02020603050405020304" pitchFamily="18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6411DED3-E0E2-EAC2-2C73-121BA6AB0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E01D78-CDCE-1082-645E-1612944A9E98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CB436-A089-0B85-62C8-B18CD33300DB}"/>
              </a:ext>
            </a:extLst>
          </p:cNvPr>
          <p:cNvSpPr txBox="1"/>
          <p:nvPr/>
        </p:nvSpPr>
        <p:spPr>
          <a:xfrm>
            <a:off x="671283" y="2028838"/>
            <a:ext cx="1270539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REGISTRATION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Explains the user registration process, including data collected, validation procedures, and security measures.</a:t>
            </a:r>
          </a:p>
          <a:p>
            <a:pPr lvl="0" algn="just"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GRAPHICAL PASSWORD AUTHENTICATION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Details the three-stage authentication process: username/password login, color sequence verification, and graphical image matching.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Describes the user dashboard and its functionalities, such as file management, sharing, and access control.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FILE SHARING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Explains how users share files, including request and approval workflows, and security considerations.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A54EE-2F2E-F324-7930-A33858C89417}"/>
              </a:ext>
            </a:extLst>
          </p:cNvPr>
          <p:cNvSpPr txBox="1"/>
          <p:nvPr/>
        </p:nvSpPr>
        <p:spPr>
          <a:xfrm>
            <a:off x="603771" y="755237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225310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9F971-6F8C-655F-20DC-5A91969B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CBC83E2-CA2C-70E2-0D06-EF051F3B1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681788-93C1-86A1-CEED-76B049941756}"/>
              </a:ext>
            </a:extLst>
          </p:cNvPr>
          <p:cNvSpPr txBox="1"/>
          <p:nvPr/>
        </p:nvSpPr>
        <p:spPr>
          <a:xfrm>
            <a:off x="603771" y="1346115"/>
            <a:ext cx="9379325" cy="62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sz="2600" b="1" dirty="0">
              <a:solidFill>
                <a:srgbClr val="1F1E1E"/>
              </a:solidFill>
              <a:latin typeface="Times New Roman" panose="02020603050405020304" pitchFamily="18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EF5D9190-76AA-5494-824E-7EDE1D646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59997C-342D-CE0A-9DF7-73B8A0126119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590A41-736F-8404-8C14-844AE27C0857}"/>
              </a:ext>
            </a:extLst>
          </p:cNvPr>
          <p:cNvSpPr txBox="1"/>
          <p:nvPr/>
        </p:nvSpPr>
        <p:spPr>
          <a:xfrm>
            <a:off x="686523" y="2028838"/>
            <a:ext cx="1270539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 ENCRYPTION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Details the AES encryption process used to secure user files.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DWT-BASED STEGANOGRAPHY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Explains the use of DWT for data hiding within images.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 AND PRIVACY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Describes measures to ensure data security and user privacy.</a:t>
            </a: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ADMIN MODULE: 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Explains the functionalities available to the administrator, such as user management and system monitoring.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EF4A2-DA77-08A7-F512-4E44BCB54017}"/>
              </a:ext>
            </a:extLst>
          </p:cNvPr>
          <p:cNvSpPr txBox="1"/>
          <p:nvPr/>
        </p:nvSpPr>
        <p:spPr>
          <a:xfrm>
            <a:off x="603771" y="755237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247254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1C3-BCF4-9A54-AD47-41513D25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9A2F9C-82DF-C152-1EB6-B7D9C57C2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82DA90-7145-A650-BAF5-ABD06BD67555}"/>
              </a:ext>
            </a:extLst>
          </p:cNvPr>
          <p:cNvSpPr txBox="1"/>
          <p:nvPr/>
        </p:nvSpPr>
        <p:spPr>
          <a:xfrm>
            <a:off x="603771" y="1346115"/>
            <a:ext cx="9379325" cy="62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 </a:t>
            </a:r>
            <a:endParaRPr lang="en-US" sz="2600" b="1" dirty="0">
              <a:solidFill>
                <a:srgbClr val="1F1E1E"/>
              </a:solidFill>
              <a:latin typeface="Times New Roman" panose="02020603050405020304" pitchFamily="18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720F732C-3EFD-5677-A065-5C2A600EB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CBBCDE-A8D9-7517-DA20-538ACCD39907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D9266-0BC4-35FE-B855-6EA744FF1E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20" y="2161849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63A326-6FF0-6AE6-3036-C603F383F1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152" y="2122969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1361D9-C484-FF17-3C37-0E3A11BECCE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515" y="2122969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A2001C-1178-172C-DF49-1AD94DBAF78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19" y="4937196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D63CCA-AF3D-F8FF-A557-63378CB78F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152" y="4937196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2F685E-8138-C84F-8F51-1A5E8D23D5A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514" y="4937196"/>
            <a:ext cx="3840095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DB5E87-620A-ECAD-73EE-11FA35F3DC4E}"/>
              </a:ext>
            </a:extLst>
          </p:cNvPr>
          <p:cNvSpPr txBox="1"/>
          <p:nvPr/>
        </p:nvSpPr>
        <p:spPr>
          <a:xfrm>
            <a:off x="603771" y="760920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906817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E9D6F-260F-5895-3FE0-B374B9203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2BC92B6-9D6C-D268-6B05-47EA5AAB3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7671FD-91AB-0B98-598D-4F1359AA7D8E}"/>
              </a:ext>
            </a:extLst>
          </p:cNvPr>
          <p:cNvSpPr txBox="1"/>
          <p:nvPr/>
        </p:nvSpPr>
        <p:spPr>
          <a:xfrm>
            <a:off x="603771" y="1346115"/>
            <a:ext cx="9379325" cy="62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 </a:t>
            </a:r>
            <a:endParaRPr lang="en-US" sz="2600" b="1" dirty="0">
              <a:solidFill>
                <a:srgbClr val="1F1E1E"/>
              </a:solidFill>
              <a:latin typeface="Times New Roman" panose="02020603050405020304" pitchFamily="18" charset="0"/>
              <a:ea typeface="Roboto Light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71DDF430-5408-8BF7-3D03-C5D94D120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889F7D-2B47-BA00-2AEA-D2012CA76273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E367B5-C057-3DC6-D513-5B2DA85DE5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20" y="2100391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0EE97D-1CC7-AE5B-7E82-C4D217D16C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067" y="2100391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FF1B83-CED3-6436-6465-4858DD55A67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515" y="2067545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0E7EB0-C832-13DB-CF30-F1861E64B2B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90" y="4921194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C97772-4C6A-2240-9234-46CB9300B68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152" y="4921194"/>
            <a:ext cx="3840095" cy="21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176686-7FA9-C8D2-1A13-91AFAAC7885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515" y="4921194"/>
            <a:ext cx="3840095" cy="21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23CE331-ED32-789E-8C9B-F9953C7F6EEA}"/>
              </a:ext>
            </a:extLst>
          </p:cNvPr>
          <p:cNvSpPr txBox="1"/>
          <p:nvPr/>
        </p:nvSpPr>
        <p:spPr>
          <a:xfrm>
            <a:off x="603771" y="760828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2998126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739C-2F6C-8C7E-D756-D9652F7F4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EB1A1B-7551-CE32-9995-9B6256DD5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3D337A-80F4-48DC-CA7C-D063D4E8DCD4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803907A5-4745-8DB9-B00F-AD1CA677C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3C3A3D-4263-F1FF-F398-3EE69F3B386C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5DCA8-76A6-2EEB-C264-BB80214472D1}"/>
              </a:ext>
            </a:extLst>
          </p:cNvPr>
          <p:cNvSpPr txBox="1"/>
          <p:nvPr/>
        </p:nvSpPr>
        <p:spPr>
          <a:xfrm>
            <a:off x="665828" y="2316469"/>
            <a:ext cx="12705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security using multi-stage authentication and data hiding.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addresses vulnerabilities in traditional authentication and cloud storage.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provides a user-friendly and secure solution for cloud environments.   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integrates advanced security measures to protect user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contributes to more secure and efficient cloud storage practices.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D86D0-F149-2A9A-ED7B-3BB084E4868B}"/>
              </a:ext>
            </a:extLst>
          </p:cNvPr>
          <p:cNvSpPr txBox="1"/>
          <p:nvPr/>
        </p:nvSpPr>
        <p:spPr>
          <a:xfrm>
            <a:off x="603771" y="756922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68329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5114-1E6D-4A4B-96E3-25FD426E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C406E7-9C2E-2441-C237-9DB184E8E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C0C3635-1F71-90D7-6C1B-A81586706245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C74084FE-F00D-403B-BF37-8D2D4816F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7A4D1F-5E15-D0BB-E7FC-1A89F1FF8781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128B6-6C01-D216-FC9F-7C8C4E8535BA}"/>
              </a:ext>
            </a:extLst>
          </p:cNvPr>
          <p:cNvSpPr txBox="1"/>
          <p:nvPr/>
        </p:nvSpPr>
        <p:spPr>
          <a:xfrm>
            <a:off x="665828" y="2316469"/>
            <a:ext cx="127053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additional authentication factors for enhanced security.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threat detection and response mechanisms.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machine learning for adaptive security.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support more cloud storage providers.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blockchain technology for improved security and transparency.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E8DDD4-162A-AD19-EAB1-7A3F452599A8}"/>
              </a:ext>
            </a:extLst>
          </p:cNvPr>
          <p:cNvSpPr txBox="1"/>
          <p:nvPr/>
        </p:nvSpPr>
        <p:spPr>
          <a:xfrm>
            <a:off x="603771" y="756922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3038816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80AC0-B0B0-4143-D859-149F27E4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8168A8-F8AC-FB19-8C36-B5B462723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7683D7-A725-F1A6-C6E8-B6DEB5CD73FF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E5555645-504B-36AB-7A78-D705760E5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BC5A66-02B4-55B3-1639-17C90E7AA407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A3E33-2E75-B32F-DEBE-E2F4BAEAB6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71" y="2428751"/>
            <a:ext cx="3311220" cy="46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9C9721-2B22-1DB4-34D8-8C0140686F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808" y="2443991"/>
            <a:ext cx="3312000" cy="46843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23FCA3-C6D4-5189-1FC5-071456454F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4625" y="2428751"/>
            <a:ext cx="3308906" cy="468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AEB4D0-6A19-0CA6-CCB8-FC49F8FAED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1698" y="2428751"/>
            <a:ext cx="3308906" cy="468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26CDE97-BD79-EDBD-53B8-384C91D62449}"/>
              </a:ext>
            </a:extLst>
          </p:cNvPr>
          <p:cNvSpPr txBox="1"/>
          <p:nvPr/>
        </p:nvSpPr>
        <p:spPr>
          <a:xfrm>
            <a:off x="603771" y="756922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844308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07AED-DF0B-3851-0ED4-A016E9897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F54BA3-8820-E7CF-7D25-4A244B158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B7A883C-E3E9-B84D-3B3E-1580F5A24333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934285AB-B814-5D74-4AF5-D967E9492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DF633C-CDE0-85A4-21F6-6AE6610AC343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2B37E-86D3-D336-8D9C-12B3173524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01" t="3133" r="7409" b="23213"/>
          <a:stretch/>
        </p:blipFill>
        <p:spPr>
          <a:xfrm>
            <a:off x="4508698" y="1559242"/>
            <a:ext cx="5613003" cy="63624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23F8E8-72F3-F1B8-7826-379BC3803D8D}"/>
              </a:ext>
            </a:extLst>
          </p:cNvPr>
          <p:cNvSpPr txBox="1"/>
          <p:nvPr/>
        </p:nvSpPr>
        <p:spPr>
          <a:xfrm>
            <a:off x="603771" y="755237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2760118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3EB2D-B903-219D-DDCF-EFE3FFB5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BA483A-67CC-CA8D-745F-15562155F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0819" y="7751423"/>
            <a:ext cx="1733224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3E37E5-D95B-8879-F9CB-F353232F152D}"/>
              </a:ext>
            </a:extLst>
          </p:cNvPr>
          <p:cNvSpPr txBox="1"/>
          <p:nvPr/>
        </p:nvSpPr>
        <p:spPr>
          <a:xfrm>
            <a:off x="603771" y="1518491"/>
            <a:ext cx="5108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4EB016D8-E5C5-64E5-8DCA-7DEEF81B5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B25DD4-1488-EEBE-B0E0-8FF3050D1959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SCIENCE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5039D-C000-56A4-30A0-199D9D564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024" y="2041711"/>
            <a:ext cx="3817800" cy="54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1D665C-F8CA-2A77-E6BB-766522BE2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5057" y="2041711"/>
            <a:ext cx="3817800" cy="540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65D2E-B36E-0918-EFDA-04A7F19F2DD9}"/>
              </a:ext>
            </a:extLst>
          </p:cNvPr>
          <p:cNvSpPr txBox="1"/>
          <p:nvPr/>
        </p:nvSpPr>
        <p:spPr>
          <a:xfrm>
            <a:off x="603771" y="757619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CS3811 PROJECT WORK</a:t>
            </a:r>
          </a:p>
        </p:txBody>
      </p:sp>
    </p:spTree>
    <p:extLst>
      <p:ext uri="{BB962C8B-B14F-4D97-AF65-F5344CB8AC3E}">
        <p14:creationId xmlns:p14="http://schemas.microsoft.com/office/powerpoint/2010/main" val="1435347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3B9D-7185-CED1-BB06-3708564D2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457004-430A-41C6-36D6-0B9C45051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178" y="7751423"/>
            <a:ext cx="5245865" cy="374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976B80-E515-6939-AA1F-E66A62EFD5E4}"/>
              </a:ext>
            </a:extLst>
          </p:cNvPr>
          <p:cNvSpPr txBox="1"/>
          <p:nvPr/>
        </p:nvSpPr>
        <p:spPr>
          <a:xfrm>
            <a:off x="5606298" y="3799329"/>
            <a:ext cx="341780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solidFill>
                  <a:srgbClr val="1F1E1E"/>
                </a:solidFill>
                <a:latin typeface="Times New Roman" panose="02020603050405020304" pitchFamily="18" charset="0"/>
                <a:ea typeface="Red Hat Text" pitchFamily="34" charset="-122"/>
                <a:cs typeface="Times New Roman" panose="02020603050405020304" pitchFamily="18" charset="0"/>
              </a:rPr>
              <a:t>THANK YOU…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Anand Institute of Higher Technology">
            <a:extLst>
              <a:ext uri="{FF2B5EF4-FFF2-40B4-BE49-F238E27FC236}">
                <a16:creationId xmlns:a16="http://schemas.microsoft.com/office/drawing/2014/main" id="{A10F0C57-722A-6833-F286-2E8D16F2A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668" y="77986"/>
            <a:ext cx="1143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891003-59A8-FAE4-2144-17831C866167}"/>
              </a:ext>
            </a:extLst>
          </p:cNvPr>
          <p:cNvSpPr txBox="1"/>
          <p:nvPr/>
        </p:nvSpPr>
        <p:spPr>
          <a:xfrm>
            <a:off x="2805668" y="307890"/>
            <a:ext cx="10423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ANAND INSTITUTE OF HIGHER TECHNOLOGY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DEPARTMENT OF COMPUTER SIENCE AND ENGINEERING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E4832-077B-F73A-9920-BBE46446F908}"/>
              </a:ext>
            </a:extLst>
          </p:cNvPr>
          <p:cNvSpPr txBox="1"/>
          <p:nvPr/>
        </p:nvSpPr>
        <p:spPr>
          <a:xfrm>
            <a:off x="686523" y="2028838"/>
            <a:ext cx="12705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spcAft>
                <a:spcPts val="1000"/>
              </a:spcAft>
              <a:buFont typeface="+mj-lt"/>
              <a:buAutoNum type="arabicPeriod"/>
              <a:tabLst>
                <a:tab pos="171450" algn="l"/>
              </a:tabLs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627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3416</TotalTime>
  <Words>1157</Words>
  <Application>Microsoft Office PowerPoint</Application>
  <PresentationFormat>Custom</PresentationFormat>
  <Paragraphs>190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GOKUL P</cp:lastModifiedBy>
  <cp:revision>55</cp:revision>
  <dcterms:created xsi:type="dcterms:W3CDTF">2024-11-06T13:33:36Z</dcterms:created>
  <dcterms:modified xsi:type="dcterms:W3CDTF">2025-05-15T07:56:34Z</dcterms:modified>
</cp:coreProperties>
</file>